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1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2" autoAdjust="0"/>
    <p:restoredTop sz="94660"/>
  </p:normalViewPr>
  <p:slideViewPr>
    <p:cSldViewPr snapToGrid="0">
      <p:cViewPr varScale="1">
        <p:scale>
          <a:sx n="75" d="100"/>
          <a:sy n="75" d="100"/>
        </p:scale>
        <p:origin x="7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A3BC4-1EFB-4A1B-AF74-B2FF0238D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40EB3D-F099-4F13-90A3-3FD71CF7E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520CE1-17A2-4E57-BB85-F79107999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F6A3F3-DED0-4D43-ABD5-9D07DBE7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063C65-96C8-4686-B3A4-B24BAA78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2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EB898-FB0C-4928-914D-13852A2B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22CA4-10C1-473C-9A16-7CF3EA175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743B6E-18F9-4C9D-A88F-15D31C25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BECB65-C363-4AD0-9F46-08C5599C5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5B73B4-00E7-4E31-B774-41D4372C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2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4DE91-865A-4B61-8B85-47C814A69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D31E32-DE8A-433F-8D28-B8884CADA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895927-3F2E-4130-A970-5822D32A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983BED-6B40-4759-A265-AF61C978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54DC39-733C-4FA4-879C-219730E2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52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54C14-6CE2-463D-B8AC-9ECFBB44B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0D79AF-44B6-4469-897B-F17A41F2A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58015A-F7D3-4942-A2DE-2827F9B35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0C4880-4084-400E-862C-F20E1C19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1E2E5F-FE3E-4460-A9BD-571839C8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1DB070-4878-4588-9980-C7DE112C2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227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3E7BD-DE88-4072-B8D9-80B252CBF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57A25D-D0C6-42F2-900C-44FA69CB0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EB4E50-2DB0-4FA4-B140-89116923E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CF9BAA-1F73-4A57-8EFF-2F14E89DA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73FF80-3F6B-44FE-9BBC-CACF58E27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9BA101-F306-48A8-9E24-59FBDCD5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A5BCE1-1D79-4DF8-9772-3C095D5C7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5EE3BB-841E-4DE8-8C39-1090F172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6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3200F-EFAF-4F6E-ABB0-0750B5FC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608097-A088-40FD-9028-BE4F5DBE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859CE7-65F7-45E0-B568-94F69CA0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0DD394-A83D-4D58-B40C-070B46E9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82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7A7FA1-68E0-45AB-B9F1-55C0FF4B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D2B562-5A30-4542-830C-6B2D16CBB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64501-60C3-4A94-9EFB-3A177509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82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BA569-0D1F-4A96-AF30-E3121700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F07E9-A776-41AE-B384-0AD3AFB9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C83F02-1B8F-42D5-9FAC-9C63C01EF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25C55A-D600-452B-AD74-C03EFDD4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D6A238-50EC-4BB4-B84A-20E310FD6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5B8E2B-229A-41A8-BFE1-93360EE8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99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E16EC-C268-4DC9-B8FB-681C158B3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AB6752-8E4A-4B8B-B9AA-5BB171CCB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4DD239-F09F-4056-940F-2F113E7E4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8571FC-1024-4D49-9008-76D53147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655A01-E47E-4D78-9317-45FDA938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C5C8AB-9734-4FB5-8E7E-D0544909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320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AABD0-842C-480C-A503-E8AB55E61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3FCA5D-C3A8-415D-A44A-C3AF1EB3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8B32C4-C4D2-45C4-BA25-DE73102A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68AA8F-A11F-4DF2-9405-FA41EB01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614EB-9D17-439C-92CE-20F60B04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47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0C4D88-C6F5-4538-B805-A278E63C9B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11C7FE-89C0-4AE5-B998-9CB82DE27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3467EC-1D00-43F5-93C0-A0AFD573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1972F7-FC8B-4FDE-AF21-A4D95E44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7B8FE-CADC-4CB7-8867-BF8ECC74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246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8D8597-B48D-421A-A58E-A274327E6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9E2DB6-F0AF-4245-9C28-64AD44131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438CB0-C3A6-4A69-964C-16405D5E8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04979-E87A-41AB-B11F-3265B62D8764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5CDF9-47D1-4743-854D-B6D6922A7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0DF29B-4D96-4D61-A532-6ADCBFC0E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55AFB-6B21-40F8-BC12-23A475C293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65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8.14028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arxiv.org/pdf/2603.2226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arxiv.org/pdf/2608.07045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arxiv.org/pdf/2606.11628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arxiv.org/pdf/2407.1520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arxiv.org/pdf/2606.28813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nvidia-isaac.github.io/video_to_data/chord/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s://kite-manip.github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arxiv.org/pdf/2607.26579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jpg"/><Relationship Id="rId2" Type="http://schemas.openxmlformats.org/officeDocument/2006/relationships/image" Target="../media/image12.png"/><Relationship Id="rId16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06C9FB-333A-419F-AB9F-B33EEF7099BB}"/>
              </a:ext>
            </a:extLst>
          </p:cNvPr>
          <p:cNvSpPr txBox="1"/>
          <p:nvPr/>
        </p:nvSpPr>
        <p:spPr>
          <a:xfrm>
            <a:off x="405981" y="1568407"/>
            <a:ext cx="11380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+mj-lt"/>
              </a:rPr>
              <a:t>Functional Interaction Transfer from Human to Robot</a:t>
            </a:r>
            <a:endParaRPr lang="zh-CN" altLang="en-US" sz="3600" dirty="0"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A9C0CD-BC2E-4CE9-9032-D9B88D3B3455}"/>
              </a:ext>
            </a:extLst>
          </p:cNvPr>
          <p:cNvSpPr txBox="1"/>
          <p:nvPr/>
        </p:nvSpPr>
        <p:spPr>
          <a:xfrm>
            <a:off x="405981" y="3873268"/>
            <a:ext cx="113800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dirty="0"/>
              <a:t>We </a:t>
            </a:r>
            <a:r>
              <a:rPr lang="en-US" altLang="zh-CN" b="1" dirty="0"/>
              <a:t>do not</a:t>
            </a:r>
            <a:r>
              <a:rPr lang="en-US" altLang="zh-CN" dirty="0"/>
              <a:t> transfer human </a:t>
            </a:r>
            <a:r>
              <a:rPr lang="en-US" altLang="zh-CN" b="1" dirty="0"/>
              <a:t>actions</a:t>
            </a:r>
            <a:r>
              <a:rPr lang="en-US" altLang="zh-CN" dirty="0"/>
              <a:t>. </a:t>
            </a:r>
          </a:p>
          <a:p>
            <a:pPr algn="r"/>
            <a:r>
              <a:rPr lang="en-US" altLang="zh-CN" dirty="0"/>
              <a:t>We transfer the </a:t>
            </a:r>
            <a:r>
              <a:rPr lang="en-US" altLang="zh-CN" b="1" dirty="0"/>
              <a:t>functional interaction</a:t>
            </a:r>
            <a:r>
              <a:rPr lang="en-US" altLang="zh-CN" dirty="0"/>
              <a:t> realized by human actions, </a:t>
            </a:r>
          </a:p>
          <a:p>
            <a:pPr algn="r"/>
            <a:r>
              <a:rPr lang="en-US" altLang="zh-CN" dirty="0"/>
              <a:t>and let each robot embodiment </a:t>
            </a:r>
            <a:r>
              <a:rPr lang="en-US" altLang="zh-CN" b="1" dirty="0"/>
              <a:t>synthesize its own actions</a:t>
            </a:r>
            <a:r>
              <a:rPr lang="en-US" altLang="zh-CN" dirty="0"/>
              <a:t> to realize the same interaction.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70261A-0DEC-42EE-A5B7-A712578647B1}"/>
              </a:ext>
            </a:extLst>
          </p:cNvPr>
          <p:cNvSpPr txBox="1"/>
          <p:nvPr/>
        </p:nvSpPr>
        <p:spPr>
          <a:xfrm>
            <a:off x="5534788" y="5808797"/>
            <a:ext cx="1122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LHY</a:t>
            </a:r>
          </a:p>
          <a:p>
            <a:pPr algn="ctr"/>
            <a:r>
              <a:rPr lang="en-US" altLang="zh-CN" dirty="0"/>
              <a:t>2026.8.15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1934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0085D0-619B-4FB6-940C-95515617F0FE}"/>
              </a:ext>
            </a:extLst>
          </p:cNvPr>
          <p:cNvSpPr txBox="1"/>
          <p:nvPr/>
        </p:nvSpPr>
        <p:spPr>
          <a:xfrm>
            <a:off x="611619" y="1945766"/>
            <a:ext cx="2794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Human Experience</a:t>
            </a:r>
            <a:endParaRPr lang="zh-CN" altLang="en-US" sz="2400" dirty="0"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EEE236-9382-4A87-A510-9B83D1E3FCC7}"/>
              </a:ext>
            </a:extLst>
          </p:cNvPr>
          <p:cNvSpPr txBox="1"/>
          <p:nvPr/>
        </p:nvSpPr>
        <p:spPr>
          <a:xfrm>
            <a:off x="4719661" y="1945766"/>
            <a:ext cx="3514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Shared Task Knowledge</a:t>
            </a:r>
            <a:endParaRPr lang="zh-CN" altLang="en-US" sz="2400" dirty="0">
              <a:latin typeface="+mj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5D246F-22ED-4D22-9557-8D6F32F368F5}"/>
              </a:ext>
            </a:extLst>
          </p:cNvPr>
          <p:cNvSpPr txBox="1"/>
          <p:nvPr/>
        </p:nvSpPr>
        <p:spPr>
          <a:xfrm>
            <a:off x="9547452" y="1945766"/>
            <a:ext cx="2032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Robot Action</a:t>
            </a:r>
            <a:endParaRPr lang="zh-CN" altLang="en-US" sz="2400" dirty="0">
              <a:latin typeface="+mj-lt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6AC00FD-53EB-49BB-9C1C-842582D235C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405974" y="2176599"/>
            <a:ext cx="1313687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7F072ED-123C-438F-9BBC-4FA3D56D639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233765" y="2176599"/>
            <a:ext cx="1313687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08BD6D8F-C026-40A6-A3F4-13C5D767ABF7}"/>
              </a:ext>
            </a:extLst>
          </p:cNvPr>
          <p:cNvSpPr txBox="1"/>
          <p:nvPr/>
        </p:nvSpPr>
        <p:spPr>
          <a:xfrm>
            <a:off x="2575069" y="2650371"/>
            <a:ext cx="29754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A: What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extracted?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BAC8B05-9F20-4226-9BAC-D951E3773980}"/>
              </a:ext>
            </a:extLst>
          </p:cNvPr>
          <p:cNvSpPr txBox="1"/>
          <p:nvPr/>
        </p:nvSpPr>
        <p:spPr>
          <a:xfrm>
            <a:off x="5627590" y="3618414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① </a:t>
            </a:r>
            <a:r>
              <a:rPr lang="en-US" altLang="zh-CN" sz="2000" dirty="0"/>
              <a:t>Action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2DA9F6-A057-48FD-A092-EF6FAD3DE770}"/>
              </a:ext>
            </a:extLst>
          </p:cNvPr>
          <p:cNvSpPr txBox="1"/>
          <p:nvPr/>
        </p:nvSpPr>
        <p:spPr>
          <a:xfrm>
            <a:off x="5627590" y="4120064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② </a:t>
            </a:r>
            <a:r>
              <a:rPr lang="en-US" altLang="zh-CN" sz="2000" dirty="0"/>
              <a:t>Effect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154DE60-EDCF-438C-B262-E9335140B899}"/>
              </a:ext>
            </a:extLst>
          </p:cNvPr>
          <p:cNvSpPr txBox="1"/>
          <p:nvPr/>
        </p:nvSpPr>
        <p:spPr>
          <a:xfrm>
            <a:off x="5627590" y="4621714"/>
            <a:ext cx="1731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③ </a:t>
            </a:r>
            <a:r>
              <a:rPr lang="en-US" altLang="zh-CN" sz="2000" dirty="0"/>
              <a:t>Interaction</a:t>
            </a:r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49E20606-0212-4C89-B2F7-6D8541175764}"/>
              </a:ext>
            </a:extLst>
          </p:cNvPr>
          <p:cNvSpPr/>
          <p:nvPr/>
        </p:nvSpPr>
        <p:spPr>
          <a:xfrm>
            <a:off x="6229350" y="2508971"/>
            <a:ext cx="120650" cy="1007903"/>
          </a:xfrm>
          <a:prstGeom prst="downArrow">
            <a:avLst>
              <a:gd name="adj1" fmla="val 50000"/>
              <a:gd name="adj2" fmla="val 255263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F5B9C212-951F-4E0D-B65D-0C8B072442DA}"/>
              </a:ext>
            </a:extLst>
          </p:cNvPr>
          <p:cNvSpPr/>
          <p:nvPr/>
        </p:nvSpPr>
        <p:spPr>
          <a:xfrm>
            <a:off x="5538184" y="3776196"/>
            <a:ext cx="142949" cy="1049804"/>
          </a:xfrm>
          <a:prstGeom prst="leftBrace">
            <a:avLst>
              <a:gd name="adj1" fmla="val 95265"/>
              <a:gd name="adj2" fmla="val 50000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D3CFC40-9097-4DAE-8CB9-F26CDF689321}"/>
              </a:ext>
            </a:extLst>
          </p:cNvPr>
          <p:cNvSpPr txBox="1"/>
          <p:nvPr/>
        </p:nvSpPr>
        <p:spPr>
          <a:xfrm>
            <a:off x="7028786" y="2650371"/>
            <a:ext cx="4894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B: How to transfer across embodiments</a:t>
            </a:r>
            <a:r>
              <a:rPr lang="zh-CN" altLang="en-US" sz="2000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609519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E69E23-7584-4C31-BDA4-129BDA6B2519}"/>
              </a:ext>
            </a:extLst>
          </p:cNvPr>
          <p:cNvSpPr txBox="1"/>
          <p:nvPr/>
        </p:nvSpPr>
        <p:spPr>
          <a:xfrm>
            <a:off x="0" y="0"/>
            <a:ext cx="109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Action</a:t>
            </a:r>
            <a:endParaRPr lang="zh-CN" altLang="en-US" sz="1400" dirty="0">
              <a:latin typeface="+mj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0429628-155C-44E8-917B-0FBD481696F7}"/>
              </a:ext>
            </a:extLst>
          </p:cNvPr>
          <p:cNvGrpSpPr/>
          <p:nvPr/>
        </p:nvGrpSpPr>
        <p:grpSpPr>
          <a:xfrm>
            <a:off x="1090363" y="673526"/>
            <a:ext cx="4538743" cy="400110"/>
            <a:chOff x="1090363" y="1430868"/>
            <a:chExt cx="4538743" cy="40011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89E3F83-3F63-4F8E-9D99-95C929E2F0C6}"/>
                </a:ext>
              </a:extLst>
            </p:cNvPr>
            <p:cNvSpPr txBox="1"/>
            <p:nvPr/>
          </p:nvSpPr>
          <p:spPr>
            <a:xfrm>
              <a:off x="1090363" y="1430868"/>
              <a:ext cx="10567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·</a:t>
              </a:r>
              <a:r>
                <a:rPr lang="en-US" altLang="zh-CN" sz="2000" dirty="0">
                  <a:hlinkClick r:id="rId2"/>
                </a:rPr>
                <a:t>UniDex</a:t>
              </a:r>
              <a:endParaRPr lang="zh-CN" altLang="en-US" sz="20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4A25695-9CD1-4857-98E3-56ED04ADD1DB}"/>
                </a:ext>
              </a:extLst>
            </p:cNvPr>
            <p:cNvSpPr txBox="1"/>
            <p:nvPr/>
          </p:nvSpPr>
          <p:spPr>
            <a:xfrm>
              <a:off x="2201565" y="1446257"/>
              <a:ext cx="3427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Human-in-the-Loop retargeting</a:t>
              </a:r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D5BC3DA-E349-4CAF-AD1C-43F7AF9EA277}"/>
              </a:ext>
            </a:extLst>
          </p:cNvPr>
          <p:cNvGrpSpPr/>
          <p:nvPr/>
        </p:nvGrpSpPr>
        <p:grpSpPr>
          <a:xfrm>
            <a:off x="1090363" y="2577481"/>
            <a:ext cx="4006546" cy="400110"/>
            <a:chOff x="1090363" y="2074335"/>
            <a:chExt cx="4006546" cy="40011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90C591B-193C-4D8C-8A82-466EB638421B}"/>
                </a:ext>
              </a:extLst>
            </p:cNvPr>
            <p:cNvSpPr txBox="1"/>
            <p:nvPr/>
          </p:nvSpPr>
          <p:spPr>
            <a:xfrm>
              <a:off x="1090363" y="2074335"/>
              <a:ext cx="11112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·</a:t>
              </a:r>
              <a:r>
                <a:rPr lang="en-US" altLang="zh-CN" sz="2000" dirty="0">
                  <a:hlinkClick r:id="rId3"/>
                </a:rPr>
                <a:t>AdvDex</a:t>
              </a:r>
              <a:endParaRPr lang="zh-CN" altLang="en-US" sz="20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C938F04-DD17-4915-9CD6-986A91621A3A}"/>
                </a:ext>
              </a:extLst>
            </p:cNvPr>
            <p:cNvSpPr txBox="1"/>
            <p:nvPr/>
          </p:nvSpPr>
          <p:spPr>
            <a:xfrm>
              <a:off x="2201565" y="2089724"/>
              <a:ext cx="2895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Joint-aligned Action Space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509D38-1DD3-44B7-8647-3983259D6E72}"/>
              </a:ext>
            </a:extLst>
          </p:cNvPr>
          <p:cNvGrpSpPr/>
          <p:nvPr/>
        </p:nvGrpSpPr>
        <p:grpSpPr>
          <a:xfrm>
            <a:off x="1090363" y="4481436"/>
            <a:ext cx="10780837" cy="400110"/>
            <a:chOff x="1090363" y="2733191"/>
            <a:chExt cx="10780837" cy="40011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FFE3A8B-0220-451D-B234-4A7DF2360CCF}"/>
                </a:ext>
              </a:extLst>
            </p:cNvPr>
            <p:cNvSpPr txBox="1"/>
            <p:nvPr/>
          </p:nvSpPr>
          <p:spPr>
            <a:xfrm>
              <a:off x="1090363" y="2733191"/>
              <a:ext cx="9685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·</a:t>
              </a:r>
              <a:r>
                <a:rPr lang="en-US" altLang="zh-CN" sz="2000" dirty="0">
                  <a:hlinkClick r:id="rId4"/>
                </a:rPr>
                <a:t>C2Dex</a:t>
              </a:r>
              <a:endParaRPr lang="zh-CN" altLang="en-US" sz="20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4F77FFA-A865-4472-80E4-3DA5E637B6C3}"/>
                </a:ext>
              </a:extLst>
            </p:cNvPr>
            <p:cNvSpPr txBox="1"/>
            <p:nvPr/>
          </p:nvSpPr>
          <p:spPr>
            <a:xfrm>
              <a:off x="2201565" y="2748580"/>
              <a:ext cx="9669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Human Video –&gt; </a:t>
              </a:r>
              <a:r>
                <a:rPr lang="zh-CN" altLang="en-US" dirty="0"/>
                <a:t>恢复</a:t>
              </a:r>
              <a:r>
                <a:rPr lang="en-US" altLang="zh-CN" dirty="0"/>
                <a:t>hand-object trajectory –&gt; </a:t>
              </a:r>
              <a:r>
                <a:rPr lang="zh-CN" altLang="en-US" dirty="0"/>
                <a:t>稳定</a:t>
              </a:r>
              <a:r>
                <a:rPr lang="en-US" altLang="zh-CN" dirty="0"/>
                <a:t>object-side contacts –&gt; </a:t>
              </a:r>
              <a:r>
                <a:rPr lang="zh-CN" altLang="en-US" dirty="0"/>
                <a:t>接触约束</a:t>
              </a:r>
              <a:r>
                <a:rPr lang="en-US" altLang="zh-CN" dirty="0"/>
                <a:t>retarget</a:t>
              </a:r>
              <a:endParaRPr lang="zh-CN" altLang="en-US" dirty="0"/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04A591E4-B866-429C-B7E3-8259C7A1C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274" y="66822"/>
            <a:ext cx="2933833" cy="210320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286D744-743B-41DB-B830-6D6678FA6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767" y="2361175"/>
            <a:ext cx="3905795" cy="151468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F2D7A41-17DE-42F0-89EF-59A1EF45A652}"/>
              </a:ext>
            </a:extLst>
          </p:cNvPr>
          <p:cNvPicPr>
            <a:picLocks/>
          </p:cNvPicPr>
          <p:nvPr/>
        </p:nvPicPr>
        <p:blipFill rotWithShape="1">
          <a:blip r:embed="rId7"/>
          <a:srcRect b="51061"/>
          <a:stretch/>
        </p:blipFill>
        <p:spPr>
          <a:xfrm>
            <a:off x="2171433" y="4881545"/>
            <a:ext cx="4758751" cy="193257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4BDC3F9-1DEF-422C-86C4-9D6CDB46D07A}"/>
              </a:ext>
            </a:extLst>
          </p:cNvPr>
          <p:cNvPicPr>
            <a:picLocks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7036382" y="4881546"/>
            <a:ext cx="4657804" cy="19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0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E69E23-7584-4C31-BDA4-129BDA6B2519}"/>
              </a:ext>
            </a:extLst>
          </p:cNvPr>
          <p:cNvSpPr txBox="1"/>
          <p:nvPr/>
        </p:nvSpPr>
        <p:spPr>
          <a:xfrm>
            <a:off x="0" y="0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Effect</a:t>
            </a:r>
            <a:endParaRPr lang="zh-CN" altLang="en-US" sz="1400" dirty="0">
              <a:latin typeface="+mj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0429628-155C-44E8-917B-0FBD481696F7}"/>
              </a:ext>
            </a:extLst>
          </p:cNvPr>
          <p:cNvGrpSpPr/>
          <p:nvPr/>
        </p:nvGrpSpPr>
        <p:grpSpPr>
          <a:xfrm>
            <a:off x="1090363" y="663141"/>
            <a:ext cx="10976403" cy="400110"/>
            <a:chOff x="1090363" y="1430868"/>
            <a:chExt cx="10976403" cy="40011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89E3F83-3F63-4F8E-9D99-95C929E2F0C6}"/>
                </a:ext>
              </a:extLst>
            </p:cNvPr>
            <p:cNvSpPr txBox="1"/>
            <p:nvPr/>
          </p:nvSpPr>
          <p:spPr>
            <a:xfrm>
              <a:off x="1090363" y="1430868"/>
              <a:ext cx="1701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·</a:t>
              </a:r>
              <a:r>
                <a:rPr lang="en-US" altLang="zh-CN" sz="2000" dirty="0">
                  <a:hlinkClick r:id="rId2"/>
                </a:rPr>
                <a:t>Im2Flow2Act</a:t>
              </a:r>
              <a:endParaRPr lang="zh-CN" altLang="en-US" sz="20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4A25695-9CD1-4857-98E3-56ED04ADD1DB}"/>
                </a:ext>
              </a:extLst>
            </p:cNvPr>
            <p:cNvSpPr txBox="1"/>
            <p:nvPr/>
          </p:nvSpPr>
          <p:spPr>
            <a:xfrm>
              <a:off x="2791470" y="1446257"/>
              <a:ext cx="9275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Human Video: scene –&gt; object flow ;  Robot Sim Play Data: desired flow –&gt; robot action</a:t>
              </a:r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D5BC3DA-E349-4CAF-AD1C-43F7AF9EA277}"/>
              </a:ext>
            </a:extLst>
          </p:cNvPr>
          <p:cNvGrpSpPr/>
          <p:nvPr/>
        </p:nvGrpSpPr>
        <p:grpSpPr>
          <a:xfrm>
            <a:off x="1090363" y="2572288"/>
            <a:ext cx="4388061" cy="400110"/>
            <a:chOff x="1090363" y="2089724"/>
            <a:chExt cx="4388061" cy="40011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90C591B-193C-4D8C-8A82-466EB638421B}"/>
                </a:ext>
              </a:extLst>
            </p:cNvPr>
            <p:cNvSpPr txBox="1"/>
            <p:nvPr/>
          </p:nvSpPr>
          <p:spPr>
            <a:xfrm>
              <a:off x="1090363" y="2089724"/>
              <a:ext cx="9444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·</a:t>
              </a:r>
              <a:r>
                <a:rPr lang="en-US" altLang="zh-CN" sz="2000" dirty="0">
                  <a:hlinkClick r:id="rId3"/>
                </a:rPr>
                <a:t>LUCID</a:t>
              </a:r>
              <a:endParaRPr lang="zh-CN" altLang="en-US" sz="20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C938F04-DD17-4915-9CD6-986A91621A3A}"/>
                </a:ext>
              </a:extLst>
            </p:cNvPr>
            <p:cNvSpPr txBox="1"/>
            <p:nvPr/>
          </p:nvSpPr>
          <p:spPr>
            <a:xfrm>
              <a:off x="2791470" y="2089724"/>
              <a:ext cx="26869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Object flow + Palm pose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509D38-1DD3-44B7-8647-3983259D6E72}"/>
              </a:ext>
            </a:extLst>
          </p:cNvPr>
          <p:cNvGrpSpPr/>
          <p:nvPr/>
        </p:nvGrpSpPr>
        <p:grpSpPr>
          <a:xfrm>
            <a:off x="1090363" y="4481436"/>
            <a:ext cx="7597273" cy="400110"/>
            <a:chOff x="1090363" y="2733191"/>
            <a:chExt cx="7597273" cy="40011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FFE3A8B-0220-451D-B234-4A7DF2360CCF}"/>
                </a:ext>
              </a:extLst>
            </p:cNvPr>
            <p:cNvSpPr txBox="1"/>
            <p:nvPr/>
          </p:nvSpPr>
          <p:spPr>
            <a:xfrm>
              <a:off x="1090363" y="2733191"/>
              <a:ext cx="16385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·</a:t>
              </a:r>
              <a:r>
                <a:rPr lang="en-US" altLang="zh-CN" sz="2000" dirty="0">
                  <a:hlinkClick r:id="rId4"/>
                </a:rPr>
                <a:t>Human2Any</a:t>
              </a:r>
              <a:endParaRPr lang="zh-CN" altLang="en-US" sz="20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4F77FFA-A865-4472-80E4-3DA5E637B6C3}"/>
                </a:ext>
              </a:extLst>
            </p:cNvPr>
            <p:cNvSpPr txBox="1"/>
            <p:nvPr/>
          </p:nvSpPr>
          <p:spPr>
            <a:xfrm>
              <a:off x="2791470" y="2748580"/>
              <a:ext cx="5896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Tool &amp; Target</a:t>
              </a:r>
              <a:r>
                <a:rPr lang="zh-CN" altLang="en-US" dirty="0"/>
                <a:t> </a:t>
              </a:r>
              <a:r>
                <a:rPr lang="en-US" altLang="zh-CN" dirty="0"/>
                <a:t>Object</a:t>
              </a:r>
              <a:r>
                <a:rPr lang="zh-CN" altLang="en-US" dirty="0"/>
                <a:t> </a:t>
              </a:r>
              <a:r>
                <a:rPr lang="en-US" altLang="zh-CN" dirty="0"/>
                <a:t>relative motion + constraint rules</a:t>
              </a:r>
              <a:endParaRPr lang="zh-CN" altLang="en-US" dirty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315F6D9-6E8A-483B-BC15-76E0A0971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194" y="1063251"/>
            <a:ext cx="7019495" cy="12566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B8EB4C3-1397-415E-AF5B-FBE07F53A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8777" y="2513438"/>
            <a:ext cx="1457864" cy="200498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240768B-8BE1-4A8D-A8A1-A2D868C38D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607" y="2785589"/>
            <a:ext cx="4913995" cy="173282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B6E5DBE-E0B5-4FBD-94BB-DEF5A0CCEA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4329" y="4881546"/>
            <a:ext cx="4457117" cy="195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57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E69E23-7584-4C31-BDA4-129BDA6B2519}"/>
              </a:ext>
            </a:extLst>
          </p:cNvPr>
          <p:cNvSpPr txBox="1"/>
          <p:nvPr/>
        </p:nvSpPr>
        <p:spPr>
          <a:xfrm>
            <a:off x="0" y="0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Interaction</a:t>
            </a:r>
            <a:endParaRPr lang="zh-CN" altLang="en-US" sz="1400" dirty="0">
              <a:latin typeface="+mj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0429628-155C-44E8-917B-0FBD481696F7}"/>
              </a:ext>
            </a:extLst>
          </p:cNvPr>
          <p:cNvGrpSpPr/>
          <p:nvPr/>
        </p:nvGrpSpPr>
        <p:grpSpPr>
          <a:xfrm>
            <a:off x="1090363" y="733763"/>
            <a:ext cx="10535577" cy="400110"/>
            <a:chOff x="1090363" y="1430868"/>
            <a:chExt cx="10535577" cy="40011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89E3F83-3F63-4F8E-9D99-95C929E2F0C6}"/>
                </a:ext>
              </a:extLst>
            </p:cNvPr>
            <p:cNvSpPr txBox="1"/>
            <p:nvPr/>
          </p:nvSpPr>
          <p:spPr>
            <a:xfrm>
              <a:off x="1090363" y="1430868"/>
              <a:ext cx="7232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·</a:t>
              </a:r>
              <a:r>
                <a:rPr lang="en-US" altLang="zh-CN" sz="2000" dirty="0">
                  <a:hlinkClick r:id="rId2"/>
                </a:rPr>
                <a:t>KITE</a:t>
              </a:r>
              <a:endParaRPr lang="zh-CN" altLang="en-US" sz="20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4A25695-9CD1-4857-98E3-56ED04ADD1DB}"/>
                </a:ext>
              </a:extLst>
            </p:cNvPr>
            <p:cNvSpPr txBox="1"/>
            <p:nvPr/>
          </p:nvSpPr>
          <p:spPr>
            <a:xfrm>
              <a:off x="2791470" y="1446257"/>
              <a:ext cx="88344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Spatial Engaging Area + Direction –&gt; Policy ;  URDF –&gt; interaction intent –&gt; Decoder</a:t>
              </a:r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D5BC3DA-E349-4CAF-AD1C-43F7AF9EA277}"/>
              </a:ext>
            </a:extLst>
          </p:cNvPr>
          <p:cNvGrpSpPr/>
          <p:nvPr/>
        </p:nvGrpSpPr>
        <p:grpSpPr>
          <a:xfrm>
            <a:off x="1090363" y="2607599"/>
            <a:ext cx="8256107" cy="400110"/>
            <a:chOff x="1090363" y="2074335"/>
            <a:chExt cx="8256107" cy="40011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90C591B-193C-4D8C-8A82-466EB638421B}"/>
                </a:ext>
              </a:extLst>
            </p:cNvPr>
            <p:cNvSpPr txBox="1"/>
            <p:nvPr/>
          </p:nvSpPr>
          <p:spPr>
            <a:xfrm>
              <a:off x="1090363" y="2074335"/>
              <a:ext cx="11095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·</a:t>
              </a:r>
              <a:r>
                <a:rPr lang="en-US" altLang="zh-CN" sz="2000" dirty="0">
                  <a:hlinkClick r:id="rId3"/>
                </a:rPr>
                <a:t>CHORD</a:t>
              </a:r>
              <a:endParaRPr lang="zh-CN" altLang="en-US" sz="20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C938F04-DD17-4915-9CD6-986A91621A3A}"/>
                </a:ext>
              </a:extLst>
            </p:cNvPr>
            <p:cNvSpPr txBox="1"/>
            <p:nvPr/>
          </p:nvSpPr>
          <p:spPr>
            <a:xfrm>
              <a:off x="2791470" y="2089724"/>
              <a:ext cx="6555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Contact Wrench Space (each task needs a specialized RL Policy)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509D38-1DD3-44B7-8647-3983259D6E72}"/>
              </a:ext>
            </a:extLst>
          </p:cNvPr>
          <p:cNvGrpSpPr/>
          <p:nvPr/>
        </p:nvGrpSpPr>
        <p:grpSpPr>
          <a:xfrm>
            <a:off x="1090363" y="4481436"/>
            <a:ext cx="8480527" cy="400110"/>
            <a:chOff x="1090363" y="2733191"/>
            <a:chExt cx="8480527" cy="40011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FFE3A8B-0220-451D-B234-4A7DF2360CCF}"/>
                </a:ext>
              </a:extLst>
            </p:cNvPr>
            <p:cNvSpPr txBox="1"/>
            <p:nvPr/>
          </p:nvSpPr>
          <p:spPr>
            <a:xfrm>
              <a:off x="1090363" y="2733191"/>
              <a:ext cx="16417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·</a:t>
              </a:r>
              <a:r>
                <a:rPr lang="en-US" altLang="zh-CN" sz="2000" dirty="0">
                  <a:hlinkClick r:id="rId4"/>
                </a:rPr>
                <a:t>ContactFlow</a:t>
              </a:r>
              <a:endParaRPr lang="zh-CN" altLang="en-US" sz="20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4F77FFA-A865-4472-80E4-3DA5E637B6C3}"/>
                </a:ext>
              </a:extLst>
            </p:cNvPr>
            <p:cNvSpPr txBox="1"/>
            <p:nvPr/>
          </p:nvSpPr>
          <p:spPr>
            <a:xfrm>
              <a:off x="2791470" y="2748580"/>
              <a:ext cx="6779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3D Contact Point Trajectory –&gt; World Model –&gt; Future Outcome</a:t>
              </a:r>
              <a:endParaRPr lang="zh-CN" altLang="en-US" dirty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B4C3378-CAC2-418E-9D17-DE8C81AE3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157" y="2963392"/>
            <a:ext cx="3085012" cy="153343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89DD6BE-A7E8-4BDA-B9A2-B02A74ED6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173" y="5028684"/>
            <a:ext cx="9002381" cy="15051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30C9C1A-26DE-45E1-852A-4DEC5813F0ED}"/>
              </a:ext>
            </a:extLst>
          </p:cNvPr>
          <p:cNvPicPr>
            <a:picLocks/>
          </p:cNvPicPr>
          <p:nvPr/>
        </p:nvPicPr>
        <p:blipFill rotWithShape="1">
          <a:blip r:embed="rId7"/>
          <a:srcRect r="4633" b="-353"/>
          <a:stretch/>
        </p:blipFill>
        <p:spPr>
          <a:xfrm>
            <a:off x="5504169" y="3063774"/>
            <a:ext cx="6652121" cy="14330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6532334-31CF-4DAC-AB0F-A567B2CF6A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2173" y="1118484"/>
            <a:ext cx="3349158" cy="150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62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0085D0-619B-4FB6-940C-95515617F0FE}"/>
              </a:ext>
            </a:extLst>
          </p:cNvPr>
          <p:cNvSpPr txBox="1"/>
          <p:nvPr/>
        </p:nvSpPr>
        <p:spPr>
          <a:xfrm>
            <a:off x="611619" y="1945766"/>
            <a:ext cx="2794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Human Experience</a:t>
            </a:r>
            <a:endParaRPr lang="zh-CN" altLang="en-US" sz="2400" dirty="0"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EEE236-9382-4A87-A510-9B83D1E3FCC7}"/>
              </a:ext>
            </a:extLst>
          </p:cNvPr>
          <p:cNvSpPr txBox="1"/>
          <p:nvPr/>
        </p:nvSpPr>
        <p:spPr>
          <a:xfrm>
            <a:off x="4719661" y="1945766"/>
            <a:ext cx="3514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Shared Task Knowledge</a:t>
            </a:r>
            <a:endParaRPr lang="zh-CN" altLang="en-US" sz="2400" dirty="0">
              <a:latin typeface="+mj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5D246F-22ED-4D22-9557-8D6F32F368F5}"/>
              </a:ext>
            </a:extLst>
          </p:cNvPr>
          <p:cNvSpPr txBox="1"/>
          <p:nvPr/>
        </p:nvSpPr>
        <p:spPr>
          <a:xfrm>
            <a:off x="9547452" y="1945766"/>
            <a:ext cx="2032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Robot Action</a:t>
            </a:r>
            <a:endParaRPr lang="zh-CN" altLang="en-US" sz="2400" dirty="0">
              <a:latin typeface="+mj-lt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6AC00FD-53EB-49BB-9C1C-842582D235C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405974" y="2176599"/>
            <a:ext cx="1313687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7F072ED-123C-438F-9BBC-4FA3D56D639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233765" y="2176599"/>
            <a:ext cx="1313687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08BD6D8F-C026-40A6-A3F4-13C5D767ABF7}"/>
              </a:ext>
            </a:extLst>
          </p:cNvPr>
          <p:cNvSpPr txBox="1"/>
          <p:nvPr/>
        </p:nvSpPr>
        <p:spPr>
          <a:xfrm>
            <a:off x="2575069" y="2650371"/>
            <a:ext cx="29754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A: What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extracted?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D09F71-E14B-4A7F-9D35-6C0AB3AA0DD4}"/>
              </a:ext>
            </a:extLst>
          </p:cNvPr>
          <p:cNvSpPr txBox="1"/>
          <p:nvPr/>
        </p:nvSpPr>
        <p:spPr>
          <a:xfrm>
            <a:off x="7028786" y="2650371"/>
            <a:ext cx="4894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B: How to transfer across embodiments</a:t>
            </a:r>
            <a:r>
              <a:rPr lang="zh-CN" altLang="en-US" sz="2000" dirty="0"/>
              <a:t>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BAC8B05-9F20-4226-9BAC-D951E3773980}"/>
              </a:ext>
            </a:extLst>
          </p:cNvPr>
          <p:cNvSpPr txBox="1"/>
          <p:nvPr/>
        </p:nvSpPr>
        <p:spPr>
          <a:xfrm>
            <a:off x="5627590" y="3618414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① </a:t>
            </a:r>
            <a:r>
              <a:rPr lang="en-US" altLang="zh-CN" sz="2000" dirty="0"/>
              <a:t>Action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2DA9F6-A057-48FD-A092-EF6FAD3DE770}"/>
              </a:ext>
            </a:extLst>
          </p:cNvPr>
          <p:cNvSpPr txBox="1"/>
          <p:nvPr/>
        </p:nvSpPr>
        <p:spPr>
          <a:xfrm>
            <a:off x="5627590" y="4120064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② </a:t>
            </a:r>
            <a:r>
              <a:rPr lang="en-US" altLang="zh-CN" sz="2000" dirty="0"/>
              <a:t>Effect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154DE60-EDCF-438C-B262-E9335140B899}"/>
              </a:ext>
            </a:extLst>
          </p:cNvPr>
          <p:cNvSpPr txBox="1"/>
          <p:nvPr/>
        </p:nvSpPr>
        <p:spPr>
          <a:xfrm>
            <a:off x="5627590" y="4621714"/>
            <a:ext cx="1731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</a:rPr>
              <a:t>③ </a:t>
            </a:r>
            <a:r>
              <a:rPr lang="en-US" altLang="zh-CN" sz="2000" dirty="0">
                <a:solidFill>
                  <a:srgbClr val="00B0F0"/>
                </a:solidFill>
              </a:rPr>
              <a:t>Interaction</a:t>
            </a:r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49E20606-0212-4C89-B2F7-6D8541175764}"/>
              </a:ext>
            </a:extLst>
          </p:cNvPr>
          <p:cNvSpPr/>
          <p:nvPr/>
        </p:nvSpPr>
        <p:spPr>
          <a:xfrm>
            <a:off x="6229350" y="2508971"/>
            <a:ext cx="120650" cy="1007903"/>
          </a:xfrm>
          <a:prstGeom prst="downArrow">
            <a:avLst>
              <a:gd name="adj1" fmla="val 50000"/>
              <a:gd name="adj2" fmla="val 255263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F5B9C212-951F-4E0D-B65D-0C8B072442DA}"/>
              </a:ext>
            </a:extLst>
          </p:cNvPr>
          <p:cNvSpPr/>
          <p:nvPr/>
        </p:nvSpPr>
        <p:spPr>
          <a:xfrm>
            <a:off x="5538183" y="3776196"/>
            <a:ext cx="147183" cy="1045571"/>
          </a:xfrm>
          <a:prstGeom prst="leftBrace">
            <a:avLst>
              <a:gd name="adj1" fmla="val 95265"/>
              <a:gd name="adj2" fmla="val 50000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939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019268A-DD02-43B5-A9A0-7012AF53076E}"/>
              </a:ext>
            </a:extLst>
          </p:cNvPr>
          <p:cNvCxnSpPr>
            <a:stCxn id="3" idx="3"/>
            <a:endCxn id="19" idx="1"/>
          </p:cNvCxnSpPr>
          <p:nvPr/>
        </p:nvCxnSpPr>
        <p:spPr>
          <a:xfrm>
            <a:off x="4403412" y="1494875"/>
            <a:ext cx="3475864" cy="0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8B1C802-6D5B-442E-9B90-CC0492CFD134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5900617" y="2461937"/>
            <a:ext cx="1978659" cy="2303458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D894939-38FF-4FD6-B631-FA7CBD208825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 flipV="1">
            <a:off x="4797751" y="3239261"/>
            <a:ext cx="3081525" cy="189739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59D2D65-91E8-461E-B7FD-8DCC765E1A9A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 flipV="1">
            <a:off x="4752867" y="3239261"/>
            <a:ext cx="3126409" cy="1156802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60B467D-357C-4A9B-ABF7-BDD3C9A26F22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4752867" y="4396063"/>
            <a:ext cx="3126409" cy="369332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5CD0A96-A35E-4504-8C0C-0A79F2476A72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5265828" y="4765395"/>
            <a:ext cx="2613448" cy="597730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2D2002D-E700-47C2-AEDE-D220C6F7C0EB}"/>
              </a:ext>
            </a:extLst>
          </p:cNvPr>
          <p:cNvCxnSpPr>
            <a:cxnSpLocks/>
            <a:stCxn id="3" idx="3"/>
            <a:endCxn id="20" idx="1"/>
          </p:cNvCxnSpPr>
          <p:nvPr/>
        </p:nvCxnSpPr>
        <p:spPr>
          <a:xfrm>
            <a:off x="4403412" y="1494875"/>
            <a:ext cx="3475864" cy="1744386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7F06F26-B563-4C69-AFB8-D1ECD00EEFC5}"/>
              </a:ext>
            </a:extLst>
          </p:cNvPr>
          <p:cNvCxnSpPr>
            <a:cxnSpLocks/>
            <a:stCxn id="3" idx="3"/>
            <a:endCxn id="21" idx="1"/>
          </p:cNvCxnSpPr>
          <p:nvPr/>
        </p:nvCxnSpPr>
        <p:spPr>
          <a:xfrm>
            <a:off x="4403412" y="1494875"/>
            <a:ext cx="3475864" cy="3270520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DE69E23-7584-4C31-BDA4-129BDA6B2519}"/>
              </a:ext>
            </a:extLst>
          </p:cNvPr>
          <p:cNvSpPr txBox="1"/>
          <p:nvPr/>
        </p:nvSpPr>
        <p:spPr>
          <a:xfrm>
            <a:off x="0" y="0"/>
            <a:ext cx="3639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A: What to be extracted?</a:t>
            </a: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D486C3CA-9E3D-41B4-8F82-CCC1E1BD0A3D}"/>
              </a:ext>
            </a:extLst>
          </p:cNvPr>
          <p:cNvSpPr/>
          <p:nvPr/>
        </p:nvSpPr>
        <p:spPr>
          <a:xfrm>
            <a:off x="607865" y="1491114"/>
            <a:ext cx="114708" cy="3872011"/>
          </a:xfrm>
          <a:prstGeom prst="leftBrace">
            <a:avLst>
              <a:gd name="adj1" fmla="val 12246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9A1140-A941-44FA-BDD4-D0AC368C6BE2}"/>
              </a:ext>
            </a:extLst>
          </p:cNvPr>
          <p:cNvSpPr txBox="1"/>
          <p:nvPr/>
        </p:nvSpPr>
        <p:spPr>
          <a:xfrm>
            <a:off x="839616" y="1310209"/>
            <a:ext cx="356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(1) How the </a:t>
            </a:r>
            <a:r>
              <a:rPr lang="en-US" altLang="zh-CN" b="1" dirty="0"/>
              <a:t>world changes</a:t>
            </a:r>
            <a:r>
              <a:rPr lang="en-US" altLang="zh-CN" dirty="0"/>
              <a:t> next?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179952-1DC5-4BB1-BF12-0B55A99B3F9F}"/>
              </a:ext>
            </a:extLst>
          </p:cNvPr>
          <p:cNvSpPr txBox="1"/>
          <p:nvPr/>
        </p:nvSpPr>
        <p:spPr>
          <a:xfrm>
            <a:off x="839616" y="2277271"/>
            <a:ext cx="5061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(2) Which </a:t>
            </a:r>
            <a:r>
              <a:rPr lang="en-US" altLang="zh-CN" b="1" dirty="0"/>
              <a:t>regions </a:t>
            </a:r>
            <a:r>
              <a:rPr lang="en-US" altLang="zh-CN" dirty="0"/>
              <a:t>participate in the interaction?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ECDC7B1-F2B1-46CF-A09E-EB8BFFEBDABA}"/>
              </a:ext>
            </a:extLst>
          </p:cNvPr>
          <p:cNvSpPr txBox="1"/>
          <p:nvPr/>
        </p:nvSpPr>
        <p:spPr>
          <a:xfrm>
            <a:off x="839616" y="3244334"/>
            <a:ext cx="3958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(3) What </a:t>
            </a:r>
            <a:r>
              <a:rPr lang="en-US" altLang="zh-CN" b="1" dirty="0"/>
              <a:t>type of interaction</a:t>
            </a:r>
            <a:r>
              <a:rPr lang="en-US" altLang="zh-CN" dirty="0"/>
              <a:t> occurs?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8466E5-13F4-40E1-800C-D549F9FBC3CE}"/>
              </a:ext>
            </a:extLst>
          </p:cNvPr>
          <p:cNvSpPr txBox="1"/>
          <p:nvPr/>
        </p:nvSpPr>
        <p:spPr>
          <a:xfrm>
            <a:off x="839616" y="4211397"/>
            <a:ext cx="3913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(4) What </a:t>
            </a:r>
            <a:r>
              <a:rPr lang="en-US" altLang="zh-CN" b="1" dirty="0"/>
              <a:t>contact states </a:t>
            </a:r>
            <a:r>
              <a:rPr lang="en-US" altLang="zh-CN" dirty="0"/>
              <a:t>are they in?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EFF24B-7329-49F0-9C74-F5A346D57FAE}"/>
              </a:ext>
            </a:extLst>
          </p:cNvPr>
          <p:cNvSpPr txBox="1"/>
          <p:nvPr/>
        </p:nvSpPr>
        <p:spPr>
          <a:xfrm>
            <a:off x="839616" y="5178459"/>
            <a:ext cx="4426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(5) Are there any </a:t>
            </a:r>
            <a:r>
              <a:rPr lang="en-US" altLang="zh-CN" b="1" dirty="0"/>
              <a:t>referential constraints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999BDBD-7000-4826-A5FE-5A46B0F482A6}"/>
              </a:ext>
            </a:extLst>
          </p:cNvPr>
          <p:cNvSpPr txBox="1"/>
          <p:nvPr/>
        </p:nvSpPr>
        <p:spPr>
          <a:xfrm>
            <a:off x="7879276" y="1310209"/>
            <a:ext cx="3344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First-Person Vision (RGB-D / …)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0D46D0-5504-4DA3-A2F9-18AC012FE75E}"/>
              </a:ext>
            </a:extLst>
          </p:cNvPr>
          <p:cNvSpPr txBox="1"/>
          <p:nvPr/>
        </p:nvSpPr>
        <p:spPr>
          <a:xfrm>
            <a:off x="7879276" y="3054595"/>
            <a:ext cx="370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Tactile Sensor (Multimodal &amp; Thin)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6D5E6B-DF61-4FE6-8B70-9B89AEC98A4E}"/>
              </a:ext>
            </a:extLst>
          </p:cNvPr>
          <p:cNvSpPr txBox="1"/>
          <p:nvPr/>
        </p:nvSpPr>
        <p:spPr>
          <a:xfrm>
            <a:off x="7879276" y="4580729"/>
            <a:ext cx="387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Surface Pose Sensor&lt;to be tackled&gt;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E65727C-0DA5-4977-8136-6C0A7903D27C}"/>
              </a:ext>
            </a:extLst>
          </p:cNvPr>
          <p:cNvSpPr txBox="1"/>
          <p:nvPr/>
        </p:nvSpPr>
        <p:spPr>
          <a:xfrm>
            <a:off x="7272064" y="0"/>
            <a:ext cx="4919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dirty="0">
                <a:latin typeface="+mj-lt"/>
              </a:rPr>
              <a:t>Ⅰ. Human Interaction Acquisition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18AD1A3-0708-4AF5-A254-B377ECBCF472}"/>
              </a:ext>
            </a:extLst>
          </p:cNvPr>
          <p:cNvSpPr txBox="1"/>
          <p:nvPr/>
        </p:nvSpPr>
        <p:spPr>
          <a:xfrm>
            <a:off x="2647439" y="6140449"/>
            <a:ext cx="785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 need for human hand poses / skeleton, just focus on interaction surfaces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736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E69E23-7584-4C31-BDA4-129BDA6B2519}"/>
              </a:ext>
            </a:extLst>
          </p:cNvPr>
          <p:cNvSpPr txBox="1"/>
          <p:nvPr/>
        </p:nvSpPr>
        <p:spPr>
          <a:xfrm>
            <a:off x="0" y="0"/>
            <a:ext cx="3639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A: What to be extracted?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FCB5F89-1E6F-4E1F-AE38-03F29563229D}"/>
              </a:ext>
            </a:extLst>
          </p:cNvPr>
          <p:cNvCxnSpPr/>
          <p:nvPr/>
        </p:nvCxnSpPr>
        <p:spPr>
          <a:xfrm>
            <a:off x="0" y="3483948"/>
            <a:ext cx="12192000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25F23367-9173-46D9-8CAD-E32463C23E54}"/>
              </a:ext>
            </a:extLst>
          </p:cNvPr>
          <p:cNvCxnSpPr/>
          <p:nvPr/>
        </p:nvCxnSpPr>
        <p:spPr>
          <a:xfrm>
            <a:off x="0" y="4974036"/>
            <a:ext cx="12192000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544DC9F1-BC01-4074-B55B-C85E264C6BA5}"/>
              </a:ext>
            </a:extLst>
          </p:cNvPr>
          <p:cNvCxnSpPr/>
          <p:nvPr/>
        </p:nvCxnSpPr>
        <p:spPr>
          <a:xfrm>
            <a:off x="0" y="1473200"/>
            <a:ext cx="12192000" cy="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D08F8011-D2BA-401D-959A-C9E00B429285}"/>
              </a:ext>
            </a:extLst>
          </p:cNvPr>
          <p:cNvCxnSpPr>
            <a:cxnSpLocks/>
          </p:cNvCxnSpPr>
          <p:nvPr/>
        </p:nvCxnSpPr>
        <p:spPr>
          <a:xfrm>
            <a:off x="2954867" y="732971"/>
            <a:ext cx="0" cy="6125029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FCEE3EDE-6B31-4B48-B0F1-89E578865C43}"/>
              </a:ext>
            </a:extLst>
          </p:cNvPr>
          <p:cNvCxnSpPr>
            <a:cxnSpLocks/>
          </p:cNvCxnSpPr>
          <p:nvPr/>
        </p:nvCxnSpPr>
        <p:spPr>
          <a:xfrm flipV="1">
            <a:off x="0" y="669791"/>
            <a:ext cx="12192000" cy="6318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4EFFEE81-4452-4018-8A2F-284DB3668B1D}"/>
              </a:ext>
            </a:extLst>
          </p:cNvPr>
          <p:cNvGrpSpPr/>
          <p:nvPr/>
        </p:nvGrpSpPr>
        <p:grpSpPr>
          <a:xfrm>
            <a:off x="3640976" y="1568460"/>
            <a:ext cx="3202632" cy="1851599"/>
            <a:chOff x="3680488" y="1571478"/>
            <a:chExt cx="3202632" cy="1851599"/>
          </a:xfrm>
        </p:grpSpPr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E759BA3D-4BAB-442B-A3F7-5A9D583C5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80490" y="1571478"/>
              <a:ext cx="1862195" cy="986368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D1B55481-18FC-44F6-AAA8-0EE2D6C6BC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0421" b="13964"/>
            <a:stretch/>
          </p:blipFill>
          <p:spPr>
            <a:xfrm>
              <a:off x="5542686" y="1580842"/>
              <a:ext cx="1340434" cy="977004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EB769EA6-6413-4179-AE45-758FA3C841B1}"/>
                </a:ext>
              </a:extLst>
            </p:cNvPr>
            <p:cNvPicPr>
              <a:picLocks/>
            </p:cNvPicPr>
            <p:nvPr/>
          </p:nvPicPr>
          <p:blipFill rotWithShape="1">
            <a:blip r:embed="rId4"/>
            <a:srcRect l="6645" t="8272" r="23650" b="27014"/>
            <a:stretch/>
          </p:blipFill>
          <p:spPr>
            <a:xfrm>
              <a:off x="3680488" y="2557846"/>
              <a:ext cx="1000458" cy="849206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E0D87A8D-267D-483F-B3FD-887F65CA2D85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t="29807" r="6968"/>
            <a:stretch/>
          </p:blipFill>
          <p:spPr>
            <a:xfrm>
              <a:off x="4686957" y="2557846"/>
              <a:ext cx="1146750" cy="865231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C001F721-9993-43DB-9281-895F9A6DDEDD}"/>
                </a:ext>
              </a:extLst>
            </p:cNvPr>
            <p:cNvPicPr>
              <a:picLocks/>
            </p:cNvPicPr>
            <p:nvPr/>
          </p:nvPicPr>
          <p:blipFill rotWithShape="1">
            <a:blip r:embed="rId6"/>
            <a:srcRect r="3164"/>
            <a:stretch/>
          </p:blipFill>
          <p:spPr>
            <a:xfrm>
              <a:off x="6121088" y="2557846"/>
              <a:ext cx="648988" cy="839841"/>
            </a:xfrm>
            <a:prstGeom prst="rect">
              <a:avLst/>
            </a:prstGeom>
          </p:spPr>
        </p:pic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AA9B976-D5A4-4420-B301-BA5038EF6855}"/>
              </a:ext>
            </a:extLst>
          </p:cNvPr>
          <p:cNvGrpSpPr/>
          <p:nvPr/>
        </p:nvGrpSpPr>
        <p:grpSpPr>
          <a:xfrm>
            <a:off x="3330586" y="3679693"/>
            <a:ext cx="3823412" cy="1156115"/>
            <a:chOff x="3432507" y="3682711"/>
            <a:chExt cx="3823412" cy="1156115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65E681E4-4409-49CA-84A9-8BFEE05D7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32507" y="3692075"/>
              <a:ext cx="1146750" cy="114675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2C1E6EC6-206D-4B9D-BCC3-94A46BFE2D96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6972" r="3345" b="14308"/>
            <a:stretch/>
          </p:blipFill>
          <p:spPr>
            <a:xfrm>
              <a:off x="4594559" y="3682711"/>
              <a:ext cx="1603042" cy="1149381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C165063E-22D3-403C-B316-02F83BFD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12903" y="3682712"/>
              <a:ext cx="1043016" cy="1156114"/>
            </a:xfrm>
            <a:prstGeom prst="rect">
              <a:avLst/>
            </a:prstGeom>
          </p:spPr>
        </p:pic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42CC2025-AD85-4C06-A705-5545660FF5F3}"/>
              </a:ext>
            </a:extLst>
          </p:cNvPr>
          <p:cNvGrpSpPr/>
          <p:nvPr/>
        </p:nvGrpSpPr>
        <p:grpSpPr>
          <a:xfrm>
            <a:off x="3013484" y="5246660"/>
            <a:ext cx="4461698" cy="1308863"/>
            <a:chOff x="3432507" y="5294831"/>
            <a:chExt cx="3941002" cy="1156114"/>
          </a:xfrm>
        </p:grpSpPr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54C87CF9-4D7D-4F0D-AC9A-DCA381E381A9}"/>
                </a:ext>
              </a:extLst>
            </p:cNvPr>
            <p:cNvPicPr>
              <a:picLocks/>
            </p:cNvPicPr>
            <p:nvPr/>
          </p:nvPicPr>
          <p:blipFill rotWithShape="1">
            <a:blip r:embed="rId10"/>
            <a:srcRect r="7529"/>
            <a:stretch/>
          </p:blipFill>
          <p:spPr>
            <a:xfrm>
              <a:off x="3432507" y="5294832"/>
              <a:ext cx="2361797" cy="1153097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5605F592-EA14-4947-928A-C263AD280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33707" y="5294831"/>
              <a:ext cx="1539802" cy="1156114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35CAA31-2BAB-4E7F-ADF0-6514314C58C3}"/>
              </a:ext>
            </a:extLst>
          </p:cNvPr>
          <p:cNvSpPr txBox="1"/>
          <p:nvPr/>
        </p:nvSpPr>
        <p:spPr>
          <a:xfrm>
            <a:off x="4452689" y="915579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Pose Only</a:t>
            </a:r>
            <a:endParaRPr lang="zh-CN" alt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3221BCC-0540-40E9-ABD5-C0A4D1472FB9}"/>
              </a:ext>
            </a:extLst>
          </p:cNvPr>
          <p:cNvSpPr txBox="1"/>
          <p:nvPr/>
        </p:nvSpPr>
        <p:spPr>
          <a:xfrm>
            <a:off x="759803" y="2327013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Outer Field</a:t>
            </a:r>
            <a:endParaRPr lang="zh-CN" altLang="en-US" sz="20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54E99C2-9F82-4550-AA95-034A657F2B5A}"/>
              </a:ext>
            </a:extLst>
          </p:cNvPr>
          <p:cNvSpPr txBox="1"/>
          <p:nvPr/>
        </p:nvSpPr>
        <p:spPr>
          <a:xfrm>
            <a:off x="748582" y="3848564"/>
            <a:ext cx="14638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/>
              <a:t>Mechanical</a:t>
            </a:r>
          </a:p>
          <a:p>
            <a:pPr algn="ctr"/>
            <a:r>
              <a:rPr lang="en-US" altLang="zh-CN" sz="2000" dirty="0"/>
              <a:t>Constraint</a:t>
            </a:r>
            <a:endParaRPr lang="zh-CN" altLang="en-US" sz="2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FA77673-3FC2-480B-BEE2-5F9BED2E876D}"/>
              </a:ext>
            </a:extLst>
          </p:cNvPr>
          <p:cNvSpPr txBox="1"/>
          <p:nvPr/>
        </p:nvSpPr>
        <p:spPr>
          <a:xfrm>
            <a:off x="515345" y="5454495"/>
            <a:ext cx="19303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/>
              <a:t>Self-Aware Soft</a:t>
            </a:r>
          </a:p>
          <a:p>
            <a:pPr algn="ctr"/>
            <a:r>
              <a:rPr lang="en-US" altLang="zh-CN" sz="2000" dirty="0"/>
              <a:t>Constraint</a:t>
            </a:r>
            <a:endParaRPr lang="zh-CN" altLang="en-US" sz="2000" dirty="0"/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939FD1E0-5CB3-4527-8367-5B47BEAAA030}"/>
              </a:ext>
            </a:extLst>
          </p:cNvPr>
          <p:cNvCxnSpPr>
            <a:cxnSpLocks/>
          </p:cNvCxnSpPr>
          <p:nvPr/>
        </p:nvCxnSpPr>
        <p:spPr>
          <a:xfrm>
            <a:off x="7535334" y="732971"/>
            <a:ext cx="0" cy="6125029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BFE9E897-F6F6-43D7-9F25-210B73019D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43273" y="3548826"/>
            <a:ext cx="2040789" cy="1365474"/>
          </a:xfrm>
          <a:prstGeom prst="rect">
            <a:avLst/>
          </a:prstGeom>
        </p:spPr>
      </p:pic>
      <p:grpSp>
        <p:nvGrpSpPr>
          <p:cNvPr id="80" name="组合 79">
            <a:extLst>
              <a:ext uri="{FF2B5EF4-FFF2-40B4-BE49-F238E27FC236}">
                <a16:creationId xmlns:a16="http://schemas.microsoft.com/office/drawing/2014/main" id="{56E9DF0B-9628-485B-A378-E21BAD1BF5AF}"/>
              </a:ext>
            </a:extLst>
          </p:cNvPr>
          <p:cNvGrpSpPr/>
          <p:nvPr/>
        </p:nvGrpSpPr>
        <p:grpSpPr>
          <a:xfrm>
            <a:off x="7632738" y="5030447"/>
            <a:ext cx="4461858" cy="1794688"/>
            <a:chOff x="7642388" y="5033305"/>
            <a:chExt cx="4461858" cy="1794688"/>
          </a:xfrm>
        </p:grpSpPr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02FF3584-3A6F-45EA-B6D6-87DE6DAFE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720712" y="5294830"/>
              <a:ext cx="1585508" cy="1153097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45323B09-EB63-4907-9AA3-05C12C49D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258704" y="5033305"/>
              <a:ext cx="845542" cy="179468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F9CF23AE-9F5C-4256-8F5C-D3BD68E0A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642388" y="5124060"/>
              <a:ext cx="2078324" cy="1494635"/>
            </a:xfrm>
            <a:prstGeom prst="rect">
              <a:avLst/>
            </a:prstGeom>
          </p:spPr>
        </p:pic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732D1A1B-DA57-47CC-9DD4-A38E5E948EFE}"/>
              </a:ext>
            </a:extLst>
          </p:cNvPr>
          <p:cNvSpPr txBox="1"/>
          <p:nvPr/>
        </p:nvSpPr>
        <p:spPr>
          <a:xfrm>
            <a:off x="8770258" y="915579"/>
            <a:ext cx="2186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Pose &amp; Geometry</a:t>
            </a:r>
            <a:endParaRPr lang="zh-CN" altLang="en-US" sz="2000" dirty="0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94F1BAA8-2A99-4DD0-B7E7-5723A6E158B8}"/>
              </a:ext>
            </a:extLst>
          </p:cNvPr>
          <p:cNvGrpSpPr/>
          <p:nvPr/>
        </p:nvGrpSpPr>
        <p:grpSpPr>
          <a:xfrm>
            <a:off x="8525564" y="1562050"/>
            <a:ext cx="2676207" cy="1807558"/>
            <a:chOff x="8525564" y="1564908"/>
            <a:chExt cx="2676207" cy="18075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B3C3ED3-047F-4F4A-A25A-19156B8D4076}"/>
                </a:ext>
              </a:extLst>
            </p:cNvPr>
            <p:cNvPicPr>
              <a:picLocks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49" t="13181" r="17120"/>
            <a:stretch/>
          </p:blipFill>
          <p:spPr>
            <a:xfrm>
              <a:off x="8525564" y="1564908"/>
              <a:ext cx="1157324" cy="1807558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B891802C-3DB3-4D95-8EF4-EDFD0B197A10}"/>
                </a:ext>
              </a:extLst>
            </p:cNvPr>
            <p:cNvPicPr>
              <a:picLocks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2" t="29525" r="25954" b="24503"/>
            <a:stretch/>
          </p:blipFill>
          <p:spPr>
            <a:xfrm>
              <a:off x="9682888" y="1569355"/>
              <a:ext cx="1518883" cy="1789609"/>
            </a:xfrm>
            <a:prstGeom prst="rect">
              <a:avLst/>
            </a:prstGeom>
          </p:spPr>
        </p:pic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A6BD041C-4FC8-4D7E-ACA8-4F0788B2603F}"/>
              </a:ext>
            </a:extLst>
          </p:cNvPr>
          <p:cNvSpPr txBox="1"/>
          <p:nvPr/>
        </p:nvSpPr>
        <p:spPr>
          <a:xfrm>
            <a:off x="7272064" y="0"/>
            <a:ext cx="4919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dirty="0">
                <a:latin typeface="+mj-lt"/>
              </a:rPr>
              <a:t>Ⅰ. Human Interaction Acquisition</a:t>
            </a:r>
          </a:p>
        </p:txBody>
      </p:sp>
    </p:spTree>
    <p:extLst>
      <p:ext uri="{BB962C8B-B14F-4D97-AF65-F5344CB8AC3E}">
        <p14:creationId xmlns:p14="http://schemas.microsoft.com/office/powerpoint/2010/main" val="3906197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E69E23-7584-4C31-BDA4-129BDA6B2519}"/>
              </a:ext>
            </a:extLst>
          </p:cNvPr>
          <p:cNvSpPr txBox="1"/>
          <p:nvPr/>
        </p:nvSpPr>
        <p:spPr>
          <a:xfrm>
            <a:off x="0" y="0"/>
            <a:ext cx="2234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A</a:t>
            </a:r>
            <a:r>
              <a:rPr lang="en-US" altLang="zh-CN" sz="2400" dirty="0">
                <a:latin typeface="+mj-lt"/>
                <a:sym typeface="Wingdings" panose="05000000000000000000" pitchFamily="2" charset="2"/>
              </a:rPr>
              <a:t>B: Bridging</a:t>
            </a:r>
            <a:endParaRPr lang="en-US" altLang="zh-CN" sz="2400" dirty="0">
              <a:latin typeface="+mj-lt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E65727C-0DA5-4977-8136-6C0A7903D27C}"/>
              </a:ext>
            </a:extLst>
          </p:cNvPr>
          <p:cNvSpPr txBox="1"/>
          <p:nvPr/>
        </p:nvSpPr>
        <p:spPr>
          <a:xfrm>
            <a:off x="7188707" y="0"/>
            <a:ext cx="5003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dirty="0">
                <a:latin typeface="+mj-lt"/>
              </a:rPr>
              <a:t>Ⅱ. Functional Interaction Learning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3169F9-372C-4AAB-A974-A280C9718EC1}"/>
              </a:ext>
            </a:extLst>
          </p:cNvPr>
          <p:cNvSpPr txBox="1"/>
          <p:nvPr/>
        </p:nvSpPr>
        <p:spPr>
          <a:xfrm>
            <a:off x="1239543" y="1380067"/>
            <a:ext cx="971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Different people do the same thing differently. So we need to find the </a:t>
            </a:r>
            <a:r>
              <a:rPr lang="en-US" altLang="zh-CN" b="1" dirty="0"/>
              <a:t>shared task structure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313DD9-1B5D-47B0-AEB0-CFD004EB3A93}"/>
              </a:ext>
            </a:extLst>
          </p:cNvPr>
          <p:cNvSpPr txBox="1"/>
          <p:nvPr/>
        </p:nvSpPr>
        <p:spPr>
          <a:xfrm>
            <a:off x="1524877" y="3429000"/>
            <a:ext cx="891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 train a model that predicts the future interaction with </a:t>
            </a:r>
            <a:r>
              <a:rPr lang="en-US" altLang="zh-CN" b="1" dirty="0"/>
              <a:t>a universal representation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356266-40E4-422D-9706-153684B5B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455" y="4120948"/>
            <a:ext cx="3087089" cy="252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77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E69E23-7584-4C31-BDA4-129BDA6B2519}"/>
              </a:ext>
            </a:extLst>
          </p:cNvPr>
          <p:cNvSpPr txBox="1"/>
          <p:nvPr/>
        </p:nvSpPr>
        <p:spPr>
          <a:xfrm>
            <a:off x="0" y="0"/>
            <a:ext cx="582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B: How to transfer across embodiments?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E65727C-0DA5-4977-8136-6C0A7903D27C}"/>
              </a:ext>
            </a:extLst>
          </p:cNvPr>
          <p:cNvSpPr txBox="1"/>
          <p:nvPr/>
        </p:nvSpPr>
        <p:spPr>
          <a:xfrm>
            <a:off x="8453477" y="0"/>
            <a:ext cx="3738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dirty="0">
                <a:latin typeface="+mj-lt"/>
              </a:rPr>
              <a:t>Ⅲ. Embodiment Executor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313DD9-1B5D-47B0-AEB0-CFD004EB3A93}"/>
              </a:ext>
            </a:extLst>
          </p:cNvPr>
          <p:cNvSpPr txBox="1"/>
          <p:nvPr/>
        </p:nvSpPr>
        <p:spPr>
          <a:xfrm>
            <a:off x="2303936" y="1048693"/>
            <a:ext cx="7584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 build a generic embodiment executor to adapt diverse end-effectors.</a:t>
            </a:r>
            <a:endParaRPr lang="zh-CN" altLang="en-US" dirty="0"/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F6791787-4CF1-4240-9550-438A6C001C5F}"/>
              </a:ext>
            </a:extLst>
          </p:cNvPr>
          <p:cNvSpPr/>
          <p:nvPr/>
        </p:nvSpPr>
        <p:spPr>
          <a:xfrm>
            <a:off x="1393785" y="2189719"/>
            <a:ext cx="114708" cy="2162144"/>
          </a:xfrm>
          <a:prstGeom prst="leftBrace">
            <a:avLst>
              <a:gd name="adj1" fmla="val 12246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175DD2-2B91-4269-A54B-6B6C10468BB0}"/>
              </a:ext>
            </a:extLst>
          </p:cNvPr>
          <p:cNvSpPr txBox="1"/>
          <p:nvPr/>
        </p:nvSpPr>
        <p:spPr>
          <a:xfrm>
            <a:off x="1508493" y="2005053"/>
            <a:ext cx="928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Embodiment Planner </a:t>
            </a:r>
            <a:r>
              <a:rPr lang="en-US" altLang="zh-CN" dirty="0"/>
              <a:t>:  sampling, IK, collision checking, reachability, contact mechanics…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7ABFF2-BA39-43D1-B167-63406E482EDE}"/>
              </a:ext>
            </a:extLst>
          </p:cNvPr>
          <p:cNvSpPr txBox="1"/>
          <p:nvPr/>
        </p:nvSpPr>
        <p:spPr>
          <a:xfrm>
            <a:off x="1508493" y="4167197"/>
            <a:ext cx="841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Generic Interaction Executor </a:t>
            </a:r>
            <a:r>
              <a:rPr lang="en-US" altLang="zh-CN" dirty="0"/>
              <a:t>:  Simulation / Real-World RL –&gt; “Action Decoder”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9987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Segoe UI Variable Text Semibold"/>
        <a:ea typeface="微软雅黑"/>
        <a:cs typeface=""/>
      </a:majorFont>
      <a:minorFont>
        <a:latin typeface="Segoe UI Variable Tex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416</Words>
  <Application>Microsoft Office PowerPoint</Application>
  <PresentationFormat>宽屏</PresentationFormat>
  <Paragraphs>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Segoe UI Variable Text</vt:lpstr>
      <vt:lpstr>Segoe UI Variable Text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Haoyang Li</dc:creator>
  <cp:lastModifiedBy>Haoyang Li</cp:lastModifiedBy>
  <cp:revision>35</cp:revision>
  <dcterms:created xsi:type="dcterms:W3CDTF">2026-08-24T02:56:38Z</dcterms:created>
  <dcterms:modified xsi:type="dcterms:W3CDTF">2026-08-27T06:24:20Z</dcterms:modified>
</cp:coreProperties>
</file>